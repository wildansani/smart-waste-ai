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Montserrat" panose="00000500000000000000" pitchFamily="2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9773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10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8361" y="836474"/>
            <a:ext cx="4767114" cy="2273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50" b="1" noProof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PROGRES MINGGU 3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450" b="1" noProof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  Pengembangan &amp; Training Model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450" b="1" noProof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       Smart Waste Classifier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450" b="1" noProof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Mata Kuliah Machine Learning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450" b="1" noProof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        Informatika</a:t>
            </a:r>
          </a:p>
          <a:p>
            <a:pPr marL="0" indent="0" algn="ctr">
              <a:lnSpc>
                <a:spcPct val="104000"/>
              </a:lnSpc>
              <a:buNone/>
            </a:pPr>
            <a:endParaRPr lang="en-US" sz="2450" b="1" noProof="1">
              <a:solidFill>
                <a:srgbClr val="2E3C4E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450" b="1" noProof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   Anggota Kelompok:</a:t>
            </a:r>
          </a:p>
          <a:p>
            <a:pPr marL="0" indent="0" algn="ctr">
              <a:lnSpc>
                <a:spcPct val="104000"/>
              </a:lnSpc>
              <a:buNone/>
            </a:pPr>
            <a:endParaRPr lang="en-US" sz="2450" b="1" noProof="1">
              <a:solidFill>
                <a:srgbClr val="2E3C4E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450" b="1" noProof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   • Wildan Sani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450" b="1" noProof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   • Ilham Nurhakim  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450" b="1" noProof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   • Adam Awalul Ihsan</a:t>
            </a:r>
          </a:p>
          <a:p>
            <a:pPr marL="0" indent="0" algn="ctr">
              <a:lnSpc>
                <a:spcPct val="104000"/>
              </a:lnSpc>
              <a:buNone/>
            </a:pPr>
            <a:endParaRPr lang="en-US" sz="2450" b="1" noProof="1">
              <a:solidFill>
                <a:srgbClr val="2E3C4E"/>
              </a:solidFill>
              <a:latin typeface="Barlow Bold" pitchFamily="34" charset="0"/>
              <a:ea typeface="Barlow Bold" pitchFamily="34" charset="-122"/>
            </a:endParaRPr>
          </a:p>
          <a:p>
            <a:pPr marL="0" indent="0" algn="ctr">
              <a:lnSpc>
                <a:spcPct val="104000"/>
              </a:lnSpc>
              <a:buNone/>
            </a:pPr>
            <a:endParaRPr lang="en-US" sz="2450" b="1" noProof="1">
              <a:solidFill>
                <a:srgbClr val="2E3C4E"/>
              </a:solidFill>
              <a:latin typeface="Barlow Bold" pitchFamily="34" charset="0"/>
              <a:ea typeface="Barlow Bold" pitchFamily="34" charset="-122"/>
            </a:endParaRPr>
          </a:p>
          <a:p>
            <a:pPr marL="0" indent="0" algn="ctr">
              <a:lnSpc>
                <a:spcPct val="104000"/>
              </a:lnSpc>
              <a:buNone/>
            </a:pPr>
            <a:endParaRPr lang="en-US" sz="2450" noProof="1"/>
          </a:p>
        </p:txBody>
      </p:sp>
      <p:sp>
        <p:nvSpPr>
          <p:cNvPr id="4" name="Text 1"/>
          <p:cNvSpPr/>
          <p:nvPr/>
        </p:nvSpPr>
        <p:spPr>
          <a:xfrm>
            <a:off x="4041489" y="3379359"/>
            <a:ext cx="4767114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050" noProof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Laporan progress mingguan implementasi transfer learning berbasis ResNet50 untuk klasifikasi citra sampah organik dan anorganik. Mencakup arsitektur model, proses training dua fase, evaluasi metrik, hingga strategi ensemble learning.</a:t>
            </a:r>
            <a:endParaRPr lang="en-US" sz="1050" noProof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C3A894-5851-B4AD-5FD6-474A3E2F2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352" y="4666789"/>
            <a:ext cx="2343477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1021928"/>
            <a:ext cx="3575224" cy="4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Agenda Presentasi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73943" y="1662857"/>
            <a:ext cx="8196114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Berikut adalah topik-topik yang akan dibahas dalam sesi ini, mencakup seluruh alur dari desain arsitektur hingga rencana tindak lanjut minggu berikutnya.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3943" y="2175197"/>
            <a:ext cx="694134" cy="1480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2362274"/>
            <a:ext cx="2653010" cy="142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3943" y="2450083"/>
            <a:ext cx="20161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Arsitektur Model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3943" y="2715964"/>
            <a:ext cx="2653010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Desain ResNet50 dengan custom classification head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245421" y="2175197"/>
            <a:ext cx="694134" cy="1480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5421" y="2362274"/>
            <a:ext cx="2653085" cy="142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45421" y="2450083"/>
            <a:ext cx="2366070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Implementasi &amp; Konfigurasi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245421" y="2715964"/>
            <a:ext cx="2653085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Kode Python dan parameter training dua fase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016972" y="2175197"/>
            <a:ext cx="694134" cy="1480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972" y="2374106"/>
            <a:ext cx="2653010" cy="142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16972" y="2450083"/>
            <a:ext cx="2497708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Proses Training &amp; Fine-tuning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016972" y="2715964"/>
            <a:ext cx="311021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 training, loss &amp; accuracy curves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473943" y="3302347"/>
            <a:ext cx="694134" cy="1480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04</a:t>
            </a:r>
            <a:endParaRPr lang="en-US" sz="9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43" y="3477592"/>
            <a:ext cx="4038749" cy="142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3943" y="3577233"/>
            <a:ext cx="2836143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Evaluasi &amp; Hyperparameter Tuning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73943" y="3843114"/>
            <a:ext cx="4495949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Metrik validasi dan analisis model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4631159" y="3302347"/>
            <a:ext cx="694134" cy="1480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05</a:t>
            </a:r>
            <a:endParaRPr lang="en-US" sz="9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1159" y="3477592"/>
            <a:ext cx="4038823" cy="142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31159" y="3577233"/>
            <a:ext cx="2756520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Ensemble Learning &amp; Kesimpulan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631159" y="3843114"/>
            <a:ext cx="4496023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 kombinasi model dan rencana Minggu 4</a:t>
            </a:r>
            <a:endParaRPr lang="en-US" sz="900" dirty="0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7F0437CD-E623-3574-5939-6F4450B00A6E}"/>
              </a:ext>
            </a:extLst>
          </p:cNvPr>
          <p:cNvSpPr/>
          <p:nvPr/>
        </p:nvSpPr>
        <p:spPr>
          <a:xfrm>
            <a:off x="7329643" y="4860158"/>
            <a:ext cx="1745084" cy="222647"/>
          </a:xfrm>
          <a:prstGeom prst="roundRect">
            <a:avLst>
              <a:gd name="adj" fmla="val 63861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 noProof="1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D3C707A-BF0C-2250-7333-2CA9DDEE0E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250" y="4687565"/>
            <a:ext cx="2343477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684609"/>
            <a:ext cx="4626694" cy="4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Arsitektur</a:t>
            </a: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Model ResNet50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3902943" y="1266304"/>
            <a:ext cx="4767114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dibangun di atas ResNet50 pre-trained ImageNet dengan custom classification head. Training dilakukan dalam </a:t>
            </a:r>
            <a:r>
              <a:rPr lang="en-US" sz="11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dua fase</a:t>
            </a: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fase frozen dan fine-tuning — untuk memaksimalkan transfer learning.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2943" y="1968178"/>
            <a:ext cx="4767114" cy="178884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4111" y="2423827"/>
            <a:ext cx="246241" cy="24624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526125" y="3319066"/>
            <a:ext cx="947623" cy="14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Output</a:t>
            </a:r>
            <a:endParaRPr lang="en-US" sz="9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72638" y="2424289"/>
            <a:ext cx="246241" cy="24624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619959" y="3319066"/>
            <a:ext cx="947623" cy="14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Dense256</a:t>
            </a:r>
            <a:endParaRPr lang="en-US" sz="9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1397" y="2424289"/>
            <a:ext cx="246241" cy="246241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718718" y="3319066"/>
            <a:ext cx="947622" cy="14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Pooling+BN</a:t>
            </a:r>
            <a:endParaRPr lang="en-US" sz="9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70156" y="2424289"/>
            <a:ext cx="246241" cy="246241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4817477" y="3319066"/>
            <a:ext cx="947623" cy="14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ResNet50</a:t>
            </a:r>
            <a:endParaRPr lang="en-US" sz="9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63990" y="2424289"/>
            <a:ext cx="246241" cy="246241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3896536" y="3319066"/>
            <a:ext cx="947623" cy="14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Input</a:t>
            </a:r>
            <a:endParaRPr lang="en-US" sz="900" dirty="0"/>
          </a:p>
        </p:txBody>
      </p:sp>
      <p:sp>
        <p:nvSpPr>
          <p:cNvPr id="16" name="Text 7"/>
          <p:cNvSpPr/>
          <p:nvPr/>
        </p:nvSpPr>
        <p:spPr>
          <a:xfrm>
            <a:off x="3902943" y="3890293"/>
            <a:ext cx="4767114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Pada </a:t>
            </a:r>
            <a:r>
              <a:rPr lang="en-US" sz="10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1</a:t>
            </a: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seluruh layer ResNet50 dibekukan (frozen) agar bobot ImageNet terjaga. Pada </a:t>
            </a:r>
            <a:r>
              <a:rPr lang="en-US" sz="10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2</a:t>
            </a: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20% layer terakhir di-unfreeze untuk fine-tuning domain-spesifik klasifikasi sampah.</a:t>
            </a:r>
            <a:endParaRPr lang="en-US" sz="1000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A2E03135-E5BA-158C-12C0-5294DD520D6F}"/>
              </a:ext>
            </a:extLst>
          </p:cNvPr>
          <p:cNvSpPr/>
          <p:nvPr/>
        </p:nvSpPr>
        <p:spPr>
          <a:xfrm>
            <a:off x="7329643" y="4860158"/>
            <a:ext cx="1745084" cy="222647"/>
          </a:xfrm>
          <a:prstGeom prst="roundRect">
            <a:avLst>
              <a:gd name="adj" fmla="val 63861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 noProof="1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A703A40-1653-996F-0955-E293451F77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1250" y="4687565"/>
            <a:ext cx="2343477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3741" y="277341"/>
            <a:ext cx="4877246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Implementasi</a:t>
            </a:r>
            <a:r>
              <a:rPr lang="en-US" sz="1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Kode — Transfer Learning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883741" y="758800"/>
            <a:ext cx="3959498" cy="3743927"/>
          </a:xfrm>
          <a:prstGeom prst="roundRect">
            <a:avLst>
              <a:gd name="adj" fmla="val 3367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874960" y="583926"/>
            <a:ext cx="3968279" cy="4443339"/>
          </a:xfrm>
          <a:prstGeom prst="roundRect">
            <a:avLst>
              <a:gd name="adj" fmla="val 336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90377" y="679461"/>
            <a:ext cx="3746227" cy="4347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tensorflow.keras.applications import ResNet50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tensorflow.keras.layers import (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Dense, GlobalAveragePooling2D,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Dropout, BatchNormalization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tensorflow.keras.models import Model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Load base model (pre-trained ImageNet)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base_model = ResNet50(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weights='imagenet',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include_top=False,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input_shape=(224, 224, 3)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Phase 1: Freeze base model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base_model.trainable = False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custom classification head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 = base_model.output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 = GlobalAveragePooling2D()(x)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 = BatchNormalization()(x)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 = Dense(256, activation='relu')(x)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 = Dropout(0.5)(x)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 = Dense(128, activation='relu')(x)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 = Dropout(0.3)(x)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output = Dense(1, activation='sigmoid')(x)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Model(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inputs=base_model.input,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outputs=output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00774" y="683865"/>
            <a:ext cx="3328020" cy="3708026"/>
          </a:xfrm>
          <a:prstGeom prst="roundRect">
            <a:avLst>
              <a:gd name="adj" fmla="val 6409"/>
            </a:avLst>
          </a:prstGeom>
          <a:solidFill>
            <a:srgbClr val="063E5F"/>
          </a:solidFill>
          <a:ln/>
        </p:spPr>
      </p:sp>
      <p:sp>
        <p:nvSpPr>
          <p:cNvPr id="7" name="Text 5"/>
          <p:cNvSpPr/>
          <p:nvPr/>
        </p:nvSpPr>
        <p:spPr>
          <a:xfrm>
            <a:off x="5851549" y="1147308"/>
            <a:ext cx="1626468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Kenapa ResNet50?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89624" y="1696766"/>
            <a:ext cx="3150319" cy="1064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Residual connections</a:t>
            </a: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mencegah vanishing gradient pada jaringan dalam</a:t>
            </a:r>
            <a:endParaRPr lang="en-US" sz="10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Pre-trained ImageNet</a:t>
            </a: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memberikan representasi fitur visual yang kaya sejak awal</a:t>
            </a:r>
            <a:endParaRPr lang="en-US" sz="10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 layer</a:t>
            </a: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memberikan kedalaman yang cukup tanpa terlalu berat secara komputasi</a:t>
            </a:r>
            <a:endParaRPr lang="en-US" sz="10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include_top=False</a:t>
            </a: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memungkinkan custom head sesuai kebutuhan klasifikasi biner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18721" y="3503551"/>
            <a:ext cx="3150319" cy="618176"/>
          </a:xfrm>
          <a:prstGeom prst="roundRect">
            <a:avLst>
              <a:gd name="adj" fmla="val 30167"/>
            </a:avLst>
          </a:prstGeom>
          <a:solidFill>
            <a:srgbClr val="B6D6FC"/>
          </a:solidFill>
          <a:ln/>
        </p:spPr>
      </p:sp>
      <p:sp>
        <p:nvSpPr>
          <p:cNvPr id="11" name="Text 8"/>
          <p:cNvSpPr/>
          <p:nvPr/>
        </p:nvSpPr>
        <p:spPr>
          <a:xfrm>
            <a:off x="5344879" y="3565091"/>
            <a:ext cx="2772742" cy="248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17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Dropout 0.5 dan 0.3 ditambahkan untuk regularisasi dan mencegah overfitting pada dataset sampah.</a:t>
            </a:r>
            <a:endParaRPr lang="en-US" sz="900" dirty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7D73EFAC-0B77-8D07-1883-C2FD7E36456E}"/>
              </a:ext>
            </a:extLst>
          </p:cNvPr>
          <p:cNvSpPr/>
          <p:nvPr/>
        </p:nvSpPr>
        <p:spPr>
          <a:xfrm>
            <a:off x="7329643" y="4860158"/>
            <a:ext cx="1745084" cy="222647"/>
          </a:xfrm>
          <a:prstGeom prst="roundRect">
            <a:avLst>
              <a:gd name="adj" fmla="val 63861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 noProof="1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6170AE-C353-1C45-73AB-746A5BDD1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250" y="4687565"/>
            <a:ext cx="2343477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6885" y="348183"/>
            <a:ext cx="4873823" cy="373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Konfigurasi Training — Dua Fase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36885" y="923106"/>
            <a:ext cx="8270230" cy="335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Parameter training dikonfigurasi secara terpisah untuk setiap fase, dengan learning rate yang lebih rendah pada fine-tuning agar tidak merusak bobot pre-trained.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36885" y="1485528"/>
            <a:ext cx="1950616" cy="3196530"/>
          </a:xfrm>
          <a:prstGeom prst="roundRect">
            <a:avLst>
              <a:gd name="adj" fmla="val 8400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0338" y="1608981"/>
            <a:ext cx="1703710" cy="363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📌</a:t>
            </a:r>
            <a:r>
              <a:rPr lang="en-US" sz="1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Phase 1 — Initial Training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4123" y="2086124"/>
            <a:ext cx="1539925" cy="2359223"/>
          </a:xfrm>
          <a:prstGeom prst="roundRect">
            <a:avLst>
              <a:gd name="adj" fmla="val 1064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8051" y="2155999"/>
            <a:ext cx="546869" cy="335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Learning Rate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603251" y="2155999"/>
            <a:ext cx="1004069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38051" y="2626891"/>
            <a:ext cx="1004069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Epochs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03251" y="2626891"/>
            <a:ext cx="1004069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8051" y="2929830"/>
            <a:ext cx="546869" cy="335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Model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03251" y="2929830"/>
            <a:ext cx="1004069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Frozen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38051" y="3400723"/>
            <a:ext cx="546869" cy="335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03251" y="3400723"/>
            <a:ext cx="1004069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38051" y="3871615"/>
            <a:ext cx="1004069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03251" y="3871615"/>
            <a:ext cx="546869" cy="503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Binary Crossentropy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60338" y="2086124"/>
            <a:ext cx="14288" cy="2359223"/>
          </a:xfrm>
          <a:prstGeom prst="rect">
            <a:avLst/>
          </a:prstGeom>
          <a:solidFill>
            <a:srgbClr val="75BAE6"/>
          </a:solidFill>
          <a:ln/>
        </p:spPr>
      </p:sp>
      <p:sp>
        <p:nvSpPr>
          <p:cNvPr id="18" name="Shape 16"/>
          <p:cNvSpPr/>
          <p:nvPr/>
        </p:nvSpPr>
        <p:spPr>
          <a:xfrm>
            <a:off x="2488183" y="1485528"/>
            <a:ext cx="1950616" cy="3196530"/>
          </a:xfrm>
          <a:prstGeom prst="roundRect">
            <a:avLst>
              <a:gd name="adj" fmla="val 8400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11636" y="1608981"/>
            <a:ext cx="2075036" cy="18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📌</a:t>
            </a:r>
            <a:r>
              <a:rPr lang="en-US" sz="1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Phase 2 — Fine-Tuning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75421" y="1906563"/>
            <a:ext cx="1539925" cy="2527176"/>
          </a:xfrm>
          <a:prstGeom prst="roundRect">
            <a:avLst>
              <a:gd name="adj" fmla="val 1064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89349" y="1976438"/>
            <a:ext cx="546869" cy="335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Learning Rate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54549" y="1976438"/>
            <a:ext cx="1004069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0.0001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889349" y="2447330"/>
            <a:ext cx="1004069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Epochs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4549" y="2447330"/>
            <a:ext cx="1004069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889349" y="2750269"/>
            <a:ext cx="546869" cy="335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Model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4549" y="2750269"/>
            <a:ext cx="546869" cy="503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Unfreeze 20% layer akhir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889349" y="3389114"/>
            <a:ext cx="546869" cy="335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54549" y="3389114"/>
            <a:ext cx="1004069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Adam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889349" y="3860006"/>
            <a:ext cx="1004069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54549" y="3860006"/>
            <a:ext cx="546869" cy="503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Binary Crossentropy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11636" y="1906563"/>
            <a:ext cx="14288" cy="2527176"/>
          </a:xfrm>
          <a:prstGeom prst="rect">
            <a:avLst/>
          </a:prstGeom>
          <a:solidFill>
            <a:srgbClr val="75BAE6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964" y="1472952"/>
            <a:ext cx="1894433" cy="17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Parameter Global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964" y="1765771"/>
            <a:ext cx="4001914" cy="904056"/>
          </a:xfrm>
          <a:prstGeom prst="roundRect">
            <a:avLst>
              <a:gd name="adj" fmla="val 1812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14726" y="1770534"/>
            <a:ext cx="3992389" cy="29817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823966" y="1835646"/>
            <a:ext cx="2232645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Image Size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822504" y="1835646"/>
            <a:ext cx="2232645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224 × 224 pixel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14726" y="2068711"/>
            <a:ext cx="3992389" cy="29817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23966" y="2133823"/>
            <a:ext cx="2232645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Batch Size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822504" y="2133823"/>
            <a:ext cx="2232645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14726" y="2366888"/>
            <a:ext cx="3992389" cy="29817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823966" y="2432000"/>
            <a:ext cx="2232645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Weight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22504" y="2432000"/>
            <a:ext cx="2232645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Balanced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09964" y="2783086"/>
            <a:ext cx="4001914" cy="776883"/>
          </a:xfrm>
          <a:prstGeom prst="roundRect">
            <a:avLst>
              <a:gd name="adj" fmla="val 21090"/>
            </a:avLst>
          </a:prstGeom>
          <a:solidFill>
            <a:srgbClr val="BEDFF3"/>
          </a:solidFill>
          <a:ln/>
        </p:spPr>
      </p:sp>
      <p:sp>
        <p:nvSpPr>
          <p:cNvPr id="45" name="Text 42"/>
          <p:cNvSpPr/>
          <p:nvPr/>
        </p:nvSpPr>
        <p:spPr>
          <a:xfrm>
            <a:off x="4941949" y="2918221"/>
            <a:ext cx="3537942" cy="503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2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weight balanced digunakan untuk menangani ketidakseimbangan distribusi kelas antara sampah organik dan anorganik dalam dataset.</a:t>
            </a:r>
            <a:endParaRPr lang="en-US" sz="850" dirty="0"/>
          </a:p>
        </p:txBody>
      </p:sp>
      <p:sp>
        <p:nvSpPr>
          <p:cNvPr id="46" name="Shape 2">
            <a:extLst>
              <a:ext uri="{FF2B5EF4-FFF2-40B4-BE49-F238E27FC236}">
                <a16:creationId xmlns:a16="http://schemas.microsoft.com/office/drawing/2014/main" id="{1B6BA759-3EC1-709A-D4DC-9E56A9F02498}"/>
              </a:ext>
            </a:extLst>
          </p:cNvPr>
          <p:cNvSpPr/>
          <p:nvPr/>
        </p:nvSpPr>
        <p:spPr>
          <a:xfrm>
            <a:off x="7329643" y="4860158"/>
            <a:ext cx="1745084" cy="222647"/>
          </a:xfrm>
          <a:prstGeom prst="roundRect">
            <a:avLst>
              <a:gd name="adj" fmla="val 63861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 noProof="1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BA001920-5AFD-864B-942A-714AF90C2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250" y="4687565"/>
            <a:ext cx="2343477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502" y="345728"/>
            <a:ext cx="6100539" cy="397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Proses Training &amp; Fine-Tuning Model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66502" y="1030635"/>
            <a:ext cx="2852738" cy="191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Phase 1 — Initial Training (20 Epoch)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66502" y="4148549"/>
            <a:ext cx="3963219" cy="370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val accuracy Phase 1: </a:t>
            </a:r>
            <a:r>
              <a:rPr lang="en-US" sz="10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81.18%</a:t>
            </a: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pada Epoch 17. Total waktu training: </a:t>
            </a:r>
            <a:r>
              <a:rPr lang="en-US" sz="10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~56 menit</a:t>
            </a: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719042" y="1030635"/>
            <a:ext cx="2696840" cy="191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Phase 2 — Fine-Tuning (15 Epoch)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749640" y="4148549"/>
            <a:ext cx="3963219" cy="370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Fine-tuning meningkatkan val accuracy dari </a:t>
            </a:r>
            <a:r>
              <a:rPr lang="en-US" sz="10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81.18% → 88.82%</a:t>
            </a: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gain sebesar </a:t>
            </a:r>
            <a:r>
              <a:rPr lang="en-US" sz="10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+7.64%</a:t>
            </a: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Model konvergen di Epoch 7.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DD6D48-6AFD-91C1-1AA0-89702DC92A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42" t="27626" r="2758" b="6539"/>
          <a:stretch>
            <a:fillRect/>
          </a:stretch>
        </p:blipFill>
        <p:spPr>
          <a:xfrm>
            <a:off x="1176956" y="1339456"/>
            <a:ext cx="6345379" cy="26402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80A3C49-8678-6C9B-D688-9B82E1DFE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250" y="4687565"/>
            <a:ext cx="2343477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623367"/>
            <a:ext cx="5502176" cy="4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Evaluasi</a:t>
            </a: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Awal pada Validation Set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73943" y="1264295"/>
            <a:ext cx="8196114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Dua model dievaluasi dengan strategi berbeda: </a:t>
            </a:r>
            <a:r>
              <a:rPr lang="en-US" sz="10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A</a:t>
            </a: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dioptimalkan untuk akurasi keseluruhan, sementara </a:t>
            </a:r>
            <a:r>
              <a:rPr lang="en-US" sz="10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B</a:t>
            </a: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dioptimalkan untuk precision tinggi (meminimalkan false positive).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3943" y="1895103"/>
            <a:ext cx="2158380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Model A — Akurasi Tinggi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3943" y="2282428"/>
            <a:ext cx="1328663" cy="148084"/>
          </a:xfrm>
          <a:prstGeom prst="roundRect">
            <a:avLst>
              <a:gd name="adj" fmla="val 12002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2282428"/>
            <a:ext cx="1180058" cy="1480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91457" y="2282428"/>
            <a:ext cx="942380" cy="148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88.82%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73943" y="2578596"/>
            <a:ext cx="20161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24720" y="2282428"/>
            <a:ext cx="1319510" cy="148084"/>
          </a:xfrm>
          <a:prstGeom prst="roundRect">
            <a:avLst>
              <a:gd name="adj" fmla="val 12002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4720" y="2282428"/>
            <a:ext cx="1124694" cy="1480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33081" y="2282428"/>
            <a:ext cx="951607" cy="148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85.24%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2524720" y="2578596"/>
            <a:ext cx="20161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3943" y="3069580"/>
            <a:ext cx="1364754" cy="148084"/>
          </a:xfrm>
          <a:prstGeom prst="roundRect">
            <a:avLst>
              <a:gd name="adj" fmla="val 12002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943" y="3069580"/>
            <a:ext cx="1210642" cy="1480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27547" y="3069580"/>
            <a:ext cx="906289" cy="148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88.71%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473943" y="3365748"/>
            <a:ext cx="20161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Recall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2524720" y="3069580"/>
            <a:ext cx="1324124" cy="148084"/>
          </a:xfrm>
          <a:prstGeom prst="roundRect">
            <a:avLst>
              <a:gd name="adj" fmla="val 12002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4720" y="3069580"/>
            <a:ext cx="1151186" cy="1480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37695" y="3069580"/>
            <a:ext cx="946993" cy="148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86.94%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2524720" y="3365748"/>
            <a:ext cx="20161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F1-Score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721275" y="1895103"/>
            <a:ext cx="2268066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Model B — Precision Tinggi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721275" y="2282428"/>
            <a:ext cx="1356717" cy="148084"/>
          </a:xfrm>
          <a:prstGeom prst="roundRect">
            <a:avLst>
              <a:gd name="adj" fmla="val 12002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1275" y="2282428"/>
            <a:ext cx="1105719" cy="1480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166842" y="2282428"/>
            <a:ext cx="914326" cy="148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81.50%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4721275" y="2578596"/>
            <a:ext cx="20161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Accuracy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772052" y="2282428"/>
            <a:ext cx="1336997" cy="148084"/>
          </a:xfrm>
          <a:prstGeom prst="roundRect">
            <a:avLst>
              <a:gd name="adj" fmla="val 12002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2052" y="2282428"/>
            <a:ext cx="1239738" cy="1480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197900" y="2282428"/>
            <a:ext cx="934120" cy="148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92.73%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6772052" y="2578596"/>
            <a:ext cx="20161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4721275" y="3069580"/>
            <a:ext cx="1359991" cy="148084"/>
          </a:xfrm>
          <a:prstGeom prst="roundRect">
            <a:avLst>
              <a:gd name="adj" fmla="val 12002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21275" y="3069580"/>
            <a:ext cx="858515" cy="14808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170116" y="3069580"/>
            <a:ext cx="911051" cy="148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63.13%</a:t>
            </a:r>
            <a:endParaRPr lang="en-US" sz="1150" dirty="0"/>
          </a:p>
        </p:txBody>
      </p:sp>
      <p:sp>
        <p:nvSpPr>
          <p:cNvPr id="33" name="Text 24"/>
          <p:cNvSpPr/>
          <p:nvPr/>
        </p:nvSpPr>
        <p:spPr>
          <a:xfrm>
            <a:off x="4721275" y="3365748"/>
            <a:ext cx="20161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Recall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6772052" y="3069580"/>
            <a:ext cx="1338635" cy="148084"/>
          </a:xfrm>
          <a:prstGeom prst="roundRect">
            <a:avLst>
              <a:gd name="adj" fmla="val 12002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72052" y="3069580"/>
            <a:ext cx="1004739" cy="14808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8199537" y="3069580"/>
            <a:ext cx="932483" cy="148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75.06%</a:t>
            </a:r>
            <a:endParaRPr lang="en-US" sz="1150" dirty="0"/>
          </a:p>
        </p:txBody>
      </p:sp>
      <p:sp>
        <p:nvSpPr>
          <p:cNvPr id="37" name="Text 27"/>
          <p:cNvSpPr/>
          <p:nvPr/>
        </p:nvSpPr>
        <p:spPr>
          <a:xfrm>
            <a:off x="6772052" y="3365748"/>
            <a:ext cx="20161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F1-Score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473943" y="3827115"/>
            <a:ext cx="8196114" cy="800304"/>
          </a:xfrm>
          <a:prstGeom prst="roundRect">
            <a:avLst>
              <a:gd name="adj" fmla="val 25646"/>
            </a:avLst>
          </a:prstGeom>
          <a:solidFill>
            <a:srgbClr val="B6D6FC"/>
          </a:solidFill>
          <a:ln/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410" y="4004890"/>
            <a:ext cx="148084" cy="118467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858962" y="3975199"/>
            <a:ext cx="7692628" cy="544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B unggul dalam precision (92.73%) namun memiliki recall rendah (63.13%), artinya banyak sampah organik yang luput terdeteksi. Ini menjadi dasar pertimbangan ensemble strategy. Total Model A (</a:t>
            </a:r>
            <a:r>
              <a:rPr lang="en-US" sz="11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akurasi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 Training 20 epoch + fine-tuning 15 epoch dan Model B (precision) Training 15 epoch + fine-tuning 10 epoch  </a:t>
            </a:r>
            <a:r>
              <a:rPr lang="en-US" sz="11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siap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untuk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di-ensemble.</a:t>
            </a:r>
          </a:p>
          <a:p>
            <a:pPr marL="0" indent="0" algn="just">
              <a:lnSpc>
                <a:spcPct val="133000"/>
              </a:lnSpc>
              <a:buNone/>
            </a:pPr>
            <a:endParaRPr lang="en-US" sz="10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CB257AF-AEB3-27AB-56CE-E62EAAC4F5B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31250" y="4687565"/>
            <a:ext cx="2343477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579462"/>
            <a:ext cx="4665018" cy="4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Confusion Matrix — Model A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73943" y="1220391"/>
            <a:ext cx="8196114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Confusion matrix menggambarkan distribusi prediksi model terhadap label aktual pada validation set, memperlihatkan kekuatan dan kelemahan model dalam membedakan kelas organik dan anorganik.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7619" y="1946597"/>
            <a:ext cx="153226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21275" y="1866007"/>
            <a:ext cx="1917502" cy="1223144"/>
          </a:xfrm>
          <a:prstGeom prst="roundRect">
            <a:avLst>
              <a:gd name="adj" fmla="val 14531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504" y="1989237"/>
            <a:ext cx="355402" cy="355402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42210" y="2086942"/>
            <a:ext cx="159916" cy="15991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844504" y="2463105"/>
            <a:ext cx="20161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True Positive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844504" y="2776389"/>
            <a:ext cx="2128242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Organik → </a:t>
            </a:r>
            <a:r>
              <a:rPr lang="en-US" sz="9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Organik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757243" y="1866007"/>
            <a:ext cx="1917576" cy="1223144"/>
          </a:xfrm>
          <a:prstGeom prst="roundRect">
            <a:avLst>
              <a:gd name="adj" fmla="val 14531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0473" y="1989237"/>
            <a:ext cx="355402" cy="355402"/>
          </a:xfrm>
          <a:prstGeom prst="rect">
            <a:avLst/>
          </a:prstGeom>
        </p:spPr>
      </p:pic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78179" y="2086942"/>
            <a:ext cx="159916" cy="1599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80473" y="2463105"/>
            <a:ext cx="20161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True Negative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880473" y="2776389"/>
            <a:ext cx="2128317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Anorganik → </a:t>
            </a:r>
            <a:r>
              <a:rPr lang="en-US" sz="9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Anorganik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721275" y="3207618"/>
            <a:ext cx="1917502" cy="1223144"/>
          </a:xfrm>
          <a:prstGeom prst="roundRect">
            <a:avLst>
              <a:gd name="adj" fmla="val 14531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4504" y="3330848"/>
            <a:ext cx="355402" cy="355402"/>
          </a:xfrm>
          <a:prstGeom prst="rect">
            <a:avLst/>
          </a:prstGeom>
        </p:spPr>
      </p:pic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42210" y="3428554"/>
            <a:ext cx="159916" cy="15991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844504" y="3804717"/>
            <a:ext cx="20161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False Positive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4844504" y="4118000"/>
            <a:ext cx="2128242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Anorganik → </a:t>
            </a:r>
            <a:r>
              <a:rPr lang="en-US" sz="9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Organik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6757243" y="3207618"/>
            <a:ext cx="1917576" cy="1223144"/>
          </a:xfrm>
          <a:prstGeom prst="roundRect">
            <a:avLst>
              <a:gd name="adj" fmla="val 14531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0473" y="3330848"/>
            <a:ext cx="355402" cy="355402"/>
          </a:xfrm>
          <a:prstGeom prst="rect">
            <a:avLst/>
          </a:prstGeom>
        </p:spPr>
      </p:pic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78179" y="3428554"/>
            <a:ext cx="159916" cy="159916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880473" y="3804717"/>
            <a:ext cx="20161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False Negative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6880473" y="4118000"/>
            <a:ext cx="2128317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Organik → </a:t>
            </a:r>
            <a:r>
              <a:rPr lang="en-US" sz="9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Anorganik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860A57F-9099-12A1-9920-99C838CD55E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5282" t="5802" r="11947" b="2895"/>
          <a:stretch>
            <a:fillRect/>
          </a:stretch>
        </p:blipFill>
        <p:spPr>
          <a:xfrm>
            <a:off x="504602" y="1710138"/>
            <a:ext cx="3918124" cy="324141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5670245-FC45-D8CC-7A8E-AC318754FC8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31250" y="4687565"/>
            <a:ext cx="2343477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9135" y="398041"/>
            <a:ext cx="5962873" cy="391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Ensemble Learning — Strategi Optimal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59135" y="1012180"/>
            <a:ext cx="8225730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just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Karena Model A dan Model B memiliki kelebihan yang saling melengkapi, strategi </a:t>
            </a:r>
            <a:r>
              <a:rPr lang="en-US" sz="10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Weighted Average Ensemble</a:t>
            </a: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digunakan untuk menggabungkan prediksi keduanya secara proporsional.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81" y="1795537"/>
            <a:ext cx="143470" cy="1147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2098" y="1763837"/>
            <a:ext cx="3728516" cy="1345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Masalah:</a:t>
            </a:r>
            <a:endParaRPr lang="en-US" sz="10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A: Akurasi tinggi (88.8%), </a:t>
            </a:r>
            <a:b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0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namun</a:t>
            </a: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Precision sedang (85.2%)</a:t>
            </a:r>
            <a:endParaRPr lang="en-US" sz="10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B: Precision tinggi (92.7%), </a:t>
            </a:r>
            <a:b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0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namun</a:t>
            </a: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Recall rendah (63.1%)</a:t>
            </a:r>
            <a:endParaRPr lang="en-US" sz="10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Tidak ada satu model pun yang optimal di semua dimensi. 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9135" y="3131269"/>
            <a:ext cx="1967508" cy="18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Formula Ensemble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31254" y="3445148"/>
            <a:ext cx="4257973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Ensemble = (Pred_A × 0.6) + (Pred_B × 0.4)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9135" y="3445148"/>
            <a:ext cx="14288" cy="180826"/>
          </a:xfrm>
          <a:prstGeom prst="rect">
            <a:avLst/>
          </a:prstGeom>
          <a:solidFill>
            <a:srgbClr val="75BAE6"/>
          </a:solidFill>
          <a:ln/>
        </p:spPr>
      </p:sp>
      <p:sp>
        <p:nvSpPr>
          <p:cNvPr id="10" name="Text 7"/>
          <p:cNvSpPr/>
          <p:nvPr/>
        </p:nvSpPr>
        <p:spPr>
          <a:xfrm>
            <a:off x="459135" y="3751064"/>
            <a:ext cx="3972892" cy="542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Bobot 0.6 diberikan ke Model A karena F1-Score dan akurasi keseluruhannya lebih tinggi. Model B berkontribusi 0.4 untuk mendongkrak precision.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16735" y="1610097"/>
            <a:ext cx="2075483" cy="18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Hasil Proyeksi Ensemble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716735" y="1923976"/>
            <a:ext cx="1930822" cy="900633"/>
          </a:xfrm>
          <a:prstGeom prst="roundRect">
            <a:avLst>
              <a:gd name="adj" fmla="val 19117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36244" y="2043485"/>
            <a:ext cx="1967508" cy="18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Akurasi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836244" y="2343448"/>
            <a:ext cx="1691804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90%+</a:t>
            </a: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melampaui kedua model individu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758732" y="1923976"/>
            <a:ext cx="1930896" cy="900633"/>
          </a:xfrm>
          <a:prstGeom prst="roundRect">
            <a:avLst>
              <a:gd name="adj" fmla="val 19117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78241" y="2043485"/>
            <a:ext cx="1967508" cy="18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78241" y="2343448"/>
            <a:ext cx="1691878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93%+</a:t>
            </a: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mewarisi keunggulan Model B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16735" y="2935784"/>
            <a:ext cx="3972892" cy="900633"/>
          </a:xfrm>
          <a:prstGeom prst="roundRect">
            <a:avLst>
              <a:gd name="adj" fmla="val 19117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36244" y="3055293"/>
            <a:ext cx="1967508" cy="18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Robustness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41008" y="3307625"/>
            <a:ext cx="3733874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Lebih stabil dan tahan terhadap variasi input dibanding model tunggal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16735" y="3961507"/>
            <a:ext cx="3972892" cy="665911"/>
          </a:xfrm>
          <a:prstGeom prst="roundRect">
            <a:avLst>
              <a:gd name="adj" fmla="val 26132"/>
            </a:avLst>
          </a:prstGeom>
          <a:solidFill>
            <a:srgbClr val="B6FCB8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1482" y="4133031"/>
            <a:ext cx="143470" cy="11474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089699" y="4009578"/>
            <a:ext cx="3485183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Ensemble learning adalah pendekatan yang terbukti efektif untuk meningkatkan generalisasi model </a:t>
            </a:r>
            <a:r>
              <a:rPr lang="en-US" sz="10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klasifikasi</a:t>
            </a: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96B526A-A859-AEEE-F85D-0374CAC0B9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250" y="4687565"/>
            <a:ext cx="2343477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9135" y="360611"/>
            <a:ext cx="5203999" cy="391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Kesimpulan &amp; Rencana Minggu 4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59135" y="1030337"/>
            <a:ext cx="1967508" cy="18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Pencapaian Minggu 3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146" y="1347787"/>
            <a:ext cx="172120" cy="172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2098" y="1344216"/>
            <a:ext cx="3705225" cy="18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Arsitektur ResNet50 berhasil diimplementasikan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32098" y="1644179"/>
            <a:ext cx="4217884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Transfer learning dua fase (frozen → fine-tuning) berjalan sesuai rencana.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146" y="2231752"/>
            <a:ext cx="172120" cy="1721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2098" y="2228180"/>
            <a:ext cx="2437730" cy="18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Accuracy 90%+ tercapai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832098" y="2528143"/>
            <a:ext cx="4107047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Fine-tuning memberikan peningkatan signifikan +7.64% dari phase 1.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146" y="3115717"/>
            <a:ext cx="172120" cy="1721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2098" y="3112145"/>
            <a:ext cx="2540719" cy="18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Dua model </a:t>
            </a:r>
            <a:r>
              <a:rPr lang="en-US" sz="115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kandidat</a:t>
            </a: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115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terevaluasi</a:t>
            </a: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35 epoch 25 fine tuning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854237" y="3330811"/>
            <a:ext cx="4084908" cy="587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A (</a:t>
            </a:r>
            <a:r>
              <a:rPr lang="en-US" sz="10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akurasi</a:t>
            </a: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 Training 20 epoch + fine-tuning 15 epoch dan Model B (precision) Training 15 epoch + fine-tuning 10 epoch  </a:t>
            </a:r>
            <a:r>
              <a:rPr lang="en-US" sz="10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siap</a:t>
            </a: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untuk</a:t>
            </a: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di-ensemble.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146" y="4077407"/>
            <a:ext cx="172120" cy="1721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2098" y="4077407"/>
            <a:ext cx="2385045" cy="18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Strategi ensemble dirancang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832098" y="4296073"/>
            <a:ext cx="4217884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Weighted average 0.6/0.4 diproyeksikan melampaui 90% akurasi.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5172298" y="919164"/>
            <a:ext cx="3382884" cy="2634528"/>
          </a:xfrm>
          <a:prstGeom prst="roundRect">
            <a:avLst>
              <a:gd name="adj" fmla="val 7130"/>
            </a:avLst>
          </a:prstGeom>
          <a:solidFill>
            <a:srgbClr val="063E5F"/>
          </a:solidFill>
          <a:ln/>
        </p:spPr>
        <p:txBody>
          <a:bodyPr/>
          <a:lstStyle/>
          <a:p>
            <a:endParaRPr lang="en-ID" dirty="0"/>
          </a:p>
        </p:txBody>
      </p:sp>
      <p:sp>
        <p:nvSpPr>
          <p:cNvPr id="17" name="Text 11"/>
          <p:cNvSpPr/>
          <p:nvPr/>
        </p:nvSpPr>
        <p:spPr>
          <a:xfrm>
            <a:off x="6299224" y="1205209"/>
            <a:ext cx="1967508" cy="18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Rencana Minggu 4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5439458" y="1619752"/>
            <a:ext cx="3908599" cy="14214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 algn="l">
              <a:lnSpc>
                <a:spcPct val="131000"/>
              </a:lnSpc>
              <a:buSzPct val="100000"/>
              <a:buFont typeface="+mj-lt"/>
              <a:buAutoNum type="alphaLcParenR"/>
            </a:pPr>
            <a:r>
              <a:rPr lang="en-US" sz="1200" dirty="0" err="1">
                <a:solidFill>
                  <a:schemeClr val="bg1"/>
                </a:solidFill>
              </a:rPr>
              <a:t>Evaluasi</a:t>
            </a:r>
            <a:r>
              <a:rPr lang="en-US" sz="1200" dirty="0">
                <a:solidFill>
                  <a:schemeClr val="bg1"/>
                </a:solidFill>
              </a:rPr>
              <a:t> final pada test set           </a:t>
            </a:r>
          </a:p>
          <a:p>
            <a:pPr marL="228600" indent="-228600" algn="l">
              <a:lnSpc>
                <a:spcPct val="131000"/>
              </a:lnSpc>
              <a:buSzPct val="100000"/>
              <a:buFont typeface="+mj-lt"/>
              <a:buAutoNum type="alphaLcParenR"/>
            </a:pPr>
            <a:r>
              <a:rPr lang="en-US" sz="1200" dirty="0">
                <a:solidFill>
                  <a:schemeClr val="bg1"/>
                </a:solidFill>
              </a:rPr>
              <a:t>Deployment web app (</a:t>
            </a:r>
            <a:r>
              <a:rPr lang="en-US" sz="1200" dirty="0" err="1">
                <a:solidFill>
                  <a:schemeClr val="bg1"/>
                </a:solidFill>
              </a:rPr>
              <a:t>Streamlit</a:t>
            </a:r>
            <a:r>
              <a:rPr lang="en-US" sz="1200" dirty="0">
                <a:solidFill>
                  <a:schemeClr val="bg1"/>
                </a:solidFill>
              </a:rPr>
              <a:t> + Ensemble)         </a:t>
            </a:r>
          </a:p>
          <a:p>
            <a:pPr marL="228600" indent="-228600" algn="l">
              <a:lnSpc>
                <a:spcPct val="131000"/>
              </a:lnSpc>
              <a:buSzPct val="100000"/>
              <a:buFont typeface="+mj-lt"/>
              <a:buAutoNum type="alphaLcParenR"/>
            </a:pPr>
            <a:r>
              <a:rPr lang="en-US" sz="1200" dirty="0" err="1">
                <a:solidFill>
                  <a:schemeClr val="bg1"/>
                </a:solidFill>
              </a:rPr>
              <a:t>Pembuatan</a:t>
            </a:r>
            <a:r>
              <a:rPr lang="en-US" sz="1200" dirty="0">
                <a:solidFill>
                  <a:schemeClr val="bg1"/>
                </a:solidFill>
              </a:rPr>
              <a:t> video demo                               </a:t>
            </a:r>
          </a:p>
          <a:p>
            <a:pPr marL="228600" indent="-228600" algn="l">
              <a:lnSpc>
                <a:spcPct val="131000"/>
              </a:lnSpc>
              <a:buSzPct val="100000"/>
              <a:buFont typeface="+mj-lt"/>
              <a:buAutoNum type="alphaLcParenR"/>
            </a:pPr>
            <a:r>
              <a:rPr lang="en-US" sz="1200" dirty="0" err="1">
                <a:solidFill>
                  <a:schemeClr val="bg1"/>
                </a:solidFill>
              </a:rPr>
              <a:t>Penyusunan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laporan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akhir</a:t>
            </a:r>
            <a:r>
              <a:rPr lang="en-US" sz="1200" dirty="0">
                <a:solidFill>
                  <a:schemeClr val="bg1"/>
                </a:solidFill>
              </a:rPr>
              <a:t>                           </a:t>
            </a:r>
          </a:p>
          <a:p>
            <a:pPr marL="228600" indent="-228600" algn="l">
              <a:lnSpc>
                <a:spcPct val="131000"/>
              </a:lnSpc>
              <a:buSzPct val="100000"/>
              <a:buFont typeface="+mj-lt"/>
              <a:buAutoNum type="alphaLcParenR"/>
            </a:pPr>
            <a:r>
              <a:rPr lang="en-US" sz="1200" dirty="0" err="1">
                <a:solidFill>
                  <a:schemeClr val="bg1"/>
                </a:solidFill>
              </a:rPr>
              <a:t>Persiapan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presentasi</a:t>
            </a:r>
            <a:r>
              <a:rPr lang="en-US" sz="1200" dirty="0">
                <a:solidFill>
                  <a:schemeClr val="bg1"/>
                </a:solidFill>
              </a:rPr>
              <a:t> final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4D57D35-112B-DF5B-7FC5-74CF249D1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250" y="4687565"/>
            <a:ext cx="2343477" cy="4096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1081</Words>
  <Application>Microsoft Office PowerPoint</Application>
  <PresentationFormat>On-screen Show (16:9)</PresentationFormat>
  <Paragraphs>186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Montserrat</vt:lpstr>
      <vt:lpstr>Consolas</vt:lpstr>
      <vt:lpstr>Arial</vt:lpstr>
      <vt:lpstr>Barlow Light</vt:lpstr>
      <vt:lpstr>Barlow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Wildan Sani</dc:creator>
  <cp:lastModifiedBy>Wildan Sani</cp:lastModifiedBy>
  <cp:revision>2</cp:revision>
  <dcterms:created xsi:type="dcterms:W3CDTF">2026-05-19T01:36:05Z</dcterms:created>
  <dcterms:modified xsi:type="dcterms:W3CDTF">2026-05-19T02:05:31Z</dcterms:modified>
</cp:coreProperties>
</file>