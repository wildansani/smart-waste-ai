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53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3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943" y="1916385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Klasifikasi </a:t>
            </a:r>
            <a:r>
              <a:rPr lang="en-US" sz="28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Sampah</a:t>
            </a: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</a:p>
          <a:p>
            <a:pPr marL="0" indent="0" algn="ctr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Organik vs Anorganik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3010346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Mata Kuliah: Machine Learning</a:t>
            </a:r>
            <a:endParaRPr lang="en-US" sz="105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62EFFF9-FAEA-CCF8-5924-1D448AE8A984}"/>
              </a:ext>
            </a:extLst>
          </p:cNvPr>
          <p:cNvSpPr/>
          <p:nvPr/>
        </p:nvSpPr>
        <p:spPr>
          <a:xfrm>
            <a:off x="5874326" y="1158067"/>
            <a:ext cx="1911929" cy="2603441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0FA4CB-862D-8E38-9EC2-87C133D306B7}"/>
              </a:ext>
            </a:extLst>
          </p:cNvPr>
          <p:cNvSpPr/>
          <p:nvPr/>
        </p:nvSpPr>
        <p:spPr>
          <a:xfrm>
            <a:off x="6355198" y="1795775"/>
            <a:ext cx="1781696" cy="1132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Kelompok</a:t>
            </a: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 4</a:t>
            </a: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Wildan Sani</a:t>
            </a: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Ilham </a:t>
            </a:r>
            <a:r>
              <a:rPr lang="en-US" sz="14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Nurhakim</a:t>
            </a: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Adam </a:t>
            </a:r>
            <a:r>
              <a:rPr lang="en-US" sz="14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Awalul</a:t>
            </a: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 I.</a:t>
            </a: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b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</a:b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1BBA3B-C10D-EA9C-4C78-D1590EF06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46" y="4725240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ABC5CD8A-314F-B7D3-2C96-C9B46990BB6E}"/>
              </a:ext>
            </a:extLst>
          </p:cNvPr>
          <p:cNvSpPr/>
          <p:nvPr/>
        </p:nvSpPr>
        <p:spPr>
          <a:xfrm>
            <a:off x="298110" y="1463613"/>
            <a:ext cx="3739300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473943" y="1505099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Pengumpulan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228897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Sumber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646983"/>
            <a:ext cx="265382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klasifikasi sampah diambil dari Kaggle, yang disediakan oleh techsash/waste-classification-data.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3943" y="3418880"/>
            <a:ext cx="5351893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Dataset : https://www.kaggle.com/datasets/techsash/waste-classification-data?resource=download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Metode: Download via Kaggle API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836" y="1264579"/>
            <a:ext cx="2494089" cy="2494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48A66F-F23C-10C2-92DD-076E2947C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0" y="4768484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A63E493F-CC03-D6BF-0C56-2F6225D52B07}"/>
              </a:ext>
            </a:extLst>
          </p:cNvPr>
          <p:cNvSpPr/>
          <p:nvPr/>
        </p:nvSpPr>
        <p:spPr>
          <a:xfrm>
            <a:off x="335397" y="1058651"/>
            <a:ext cx="2809585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" name="Text 0"/>
          <p:cNvSpPr/>
          <p:nvPr/>
        </p:nvSpPr>
        <p:spPr>
          <a:xfrm>
            <a:off x="427863" y="1090352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Statistik Dataset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206406" y="238861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Detail Teknis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89251" y="2746623"/>
            <a:ext cx="4785494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Waktu Download: ~5 menit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Ukuran File: ~225 MB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Struktur Folder: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/content/data/dataset/DATASET/TRAIN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39BC8-5865-A8B1-C35C-8CF11AD65E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649"/>
          <a:stretch>
            <a:fillRect/>
          </a:stretch>
        </p:blipFill>
        <p:spPr>
          <a:xfrm>
            <a:off x="473943" y="1826196"/>
            <a:ext cx="4062764" cy="445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6B5C57-E110-FF13-8D07-1EC2D4F6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282"/>
          <a:stretch>
            <a:fillRect/>
          </a:stretch>
        </p:blipFill>
        <p:spPr>
          <a:xfrm>
            <a:off x="473942" y="2388617"/>
            <a:ext cx="3517387" cy="1927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801B21-36EB-F1E9-BE53-9F955EC57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791" y="4781499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77951951-A09E-7EA6-8CC0-E2968F580EBB}"/>
              </a:ext>
            </a:extLst>
          </p:cNvPr>
          <p:cNvSpPr/>
          <p:nvPr/>
        </p:nvSpPr>
        <p:spPr>
          <a:xfrm>
            <a:off x="335398" y="579828"/>
            <a:ext cx="3662982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434913" y="627798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Eksplorasi Data (EDA)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34913" y="1167314"/>
            <a:ext cx="8196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 awal untuk memahami karakteristik dataset.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3830" y="1537576"/>
            <a:ext cx="2641774" cy="1230139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702198"/>
            <a:ext cx="2641774" cy="76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22" y="2295972"/>
            <a:ext cx="406226" cy="406226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3570" y="2640062"/>
            <a:ext cx="162446" cy="1624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352" y="175826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Distribusi Kelas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89322" y="2130379"/>
            <a:ext cx="23329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Kelas 'O' (Organik) dan 'R' (Anorganik).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242100" y="1527451"/>
            <a:ext cx="2641774" cy="1230139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076" y="2702198"/>
            <a:ext cx="2641774" cy="762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12" y="2518172"/>
            <a:ext cx="406226" cy="40622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0703" y="2640062"/>
            <a:ext cx="162446" cy="16244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05485" y="176523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Resolusi Gambar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3405447" y="2130379"/>
            <a:ext cx="233295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variasi resolusi unik.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6005764" y="1540208"/>
            <a:ext cx="2641848" cy="1230139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209" y="2702198"/>
            <a:ext cx="2641848" cy="7620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20" y="2518172"/>
            <a:ext cx="406226" cy="406226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7910" y="2640062"/>
            <a:ext cx="162446" cy="16244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182618" y="174230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Kualitas Gambar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6182618" y="2024870"/>
            <a:ext cx="233303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 warna RGB, format JPG/JPEG.</a:t>
            </a: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5209F92-0C67-6992-FE78-33C129FBD4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2332" y="2984312"/>
            <a:ext cx="3331156" cy="138798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F16EB4-F20A-98F7-1520-6E2065B51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247" y="2923183"/>
            <a:ext cx="5348060" cy="178268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778CD36-4998-108F-6321-48E87675B5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466" y="4769376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1AC83EF4-A991-6970-4BF7-780C31CACF74}"/>
              </a:ext>
            </a:extLst>
          </p:cNvPr>
          <p:cNvSpPr/>
          <p:nvPr/>
        </p:nvSpPr>
        <p:spPr>
          <a:xfrm>
            <a:off x="335397" y="561056"/>
            <a:ext cx="3952585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" name="Text 0"/>
          <p:cNvSpPr/>
          <p:nvPr/>
        </p:nvSpPr>
        <p:spPr>
          <a:xfrm>
            <a:off x="473943" y="605668"/>
            <a:ext cx="375039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Distribusi Kelas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963415"/>
            <a:ext cx="8196114" cy="1563886"/>
          </a:xfrm>
          <a:prstGeom prst="roundRect">
            <a:avLst>
              <a:gd name="adj" fmla="val 129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8706" y="1351651"/>
            <a:ext cx="8186589" cy="3885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14214" y="107045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Kelas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63205" y="107045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9815" y="107045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56425" y="107045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706" y="1740241"/>
            <a:ext cx="8186589" cy="3885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4214" y="145904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(Organik)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63205" y="145904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12.565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815" y="145904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56425" y="145904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13.966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8706" y="2128831"/>
            <a:ext cx="8186589" cy="3885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4214" y="184763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(Anorganik)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63205" y="184763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9.999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815" y="184763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1.112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56425" y="184763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11.111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706" y="2517421"/>
            <a:ext cx="8186589" cy="3885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4214" y="223622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63205" y="223622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22.564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815" y="2236222"/>
            <a:ext cx="17711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2.513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56425" y="2236222"/>
            <a:ext cx="17735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25.077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150F3A-0BFA-5C12-0073-AD5FB37A4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189" y="2906011"/>
            <a:ext cx="5087252" cy="16957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C4454B-2A1E-135B-3395-EBD56018C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64" y="4756611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0DFBA906-849E-83C3-399C-D42C8F103B3F}"/>
              </a:ext>
            </a:extLst>
          </p:cNvPr>
          <p:cNvSpPr/>
          <p:nvPr/>
        </p:nvSpPr>
        <p:spPr>
          <a:xfrm>
            <a:off x="344986" y="1294060"/>
            <a:ext cx="2827705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" name="Text 0"/>
          <p:cNvSpPr/>
          <p:nvPr/>
        </p:nvSpPr>
        <p:spPr>
          <a:xfrm>
            <a:off x="473943" y="1325761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Insight dari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2041996"/>
            <a:ext cx="2641774" cy="1775743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65" y="2182118"/>
            <a:ext cx="406226" cy="40622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60" y="2293813"/>
            <a:ext cx="182761" cy="1827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065" y="2723704"/>
            <a:ext cx="191407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14065" y="3027536"/>
            <a:ext cx="236153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Organik lebih banyak dari Anorganik. </a:t>
            </a:r>
            <a:r>
              <a:rPr lang="en-US" sz="10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Tetapi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bisa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weighting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saat training.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251076" y="2041996"/>
            <a:ext cx="2641774" cy="1775743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1198" y="2182118"/>
            <a:ext cx="406226" cy="40622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2893" y="2293813"/>
            <a:ext cx="182761" cy="1827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91198" y="272370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Resolusi Variatif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391198" y="3027536"/>
            <a:ext cx="236153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Resolusi gambar bervariasi, perlu di-</a:t>
            </a: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resize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seragam.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6028209" y="2041996"/>
            <a:ext cx="2641848" cy="1775743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8330" y="2182118"/>
            <a:ext cx="406226" cy="40622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026" y="2293813"/>
            <a:ext cx="182761" cy="18276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68330" y="272370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Representatif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168330" y="3027536"/>
            <a:ext cx="236160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Kualitas gambar (pencahayaan, latar) </a:t>
            </a:r>
            <a:r>
              <a:rPr lang="en-US" sz="10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representatif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34AD4A-7A68-246F-E735-F7CC3C6157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0995" y="120141"/>
            <a:ext cx="3563466" cy="17817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E6893F-7C3B-5A6F-D8CE-F73FF9F39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2251" y="4781499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9A4E4AA4-1624-61B2-A4FC-E6938A8D3815}"/>
              </a:ext>
            </a:extLst>
          </p:cNvPr>
          <p:cNvSpPr/>
          <p:nvPr/>
        </p:nvSpPr>
        <p:spPr>
          <a:xfrm>
            <a:off x="335397" y="421430"/>
            <a:ext cx="3913125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473943" y="419529"/>
            <a:ext cx="3774579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Pipeline Pre-processing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5B889B-DD9A-2F53-D63B-31DD02A84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531" y="1229374"/>
            <a:ext cx="3924848" cy="5906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702F7E-60BA-4E5C-7DE4-617F10BE5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19" y="1318189"/>
            <a:ext cx="3515216" cy="22577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686081-F290-8640-5D51-98D972354DC5}"/>
              </a:ext>
            </a:extLst>
          </p:cNvPr>
          <p:cNvSpPr txBox="1"/>
          <p:nvPr/>
        </p:nvSpPr>
        <p:spPr>
          <a:xfrm>
            <a:off x="1235550" y="3660151"/>
            <a:ext cx="2251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600" b="1" i="0" dirty="0">
                <a:solidFill>
                  <a:srgbClr val="0F1115"/>
                </a:solidFill>
                <a:effectLst/>
                <a:latin typeface="Barlow Bold"/>
              </a:rPr>
              <a:t>Kode </a:t>
            </a:r>
            <a:r>
              <a:rPr lang="en-ID" sz="1600" b="1" i="0" dirty="0" err="1">
                <a:solidFill>
                  <a:srgbClr val="0F1115"/>
                </a:solidFill>
                <a:effectLst/>
                <a:latin typeface="Barlow Bold"/>
              </a:rPr>
              <a:t>ImageDataGenerator</a:t>
            </a:r>
            <a:endParaRPr lang="en-ID" sz="1600" dirty="0">
              <a:latin typeface="Barlow 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D4BA5A-92ED-683B-D3B6-1B7D13E1C2A3}"/>
              </a:ext>
            </a:extLst>
          </p:cNvPr>
          <p:cNvSpPr txBox="1"/>
          <p:nvPr/>
        </p:nvSpPr>
        <p:spPr>
          <a:xfrm>
            <a:off x="5562600" y="18258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rgbClr val="0F1115"/>
                </a:solidFill>
                <a:effectLst/>
                <a:latin typeface="Barlow Bold"/>
              </a:rPr>
              <a:t>Hasil </a:t>
            </a:r>
            <a:r>
              <a:rPr lang="en-ID" sz="1600" b="1" i="0" dirty="0" err="1">
                <a:solidFill>
                  <a:srgbClr val="0F1115"/>
                </a:solidFill>
                <a:effectLst/>
                <a:latin typeface="Barlow Bold"/>
              </a:rPr>
              <a:t>flow_from_directory</a:t>
            </a:r>
            <a:endParaRPr lang="en-ID" sz="1600" dirty="0">
              <a:latin typeface="Barlow Bold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24B3D7-78CD-04F3-0D50-BF4F60CC6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892" y="4781499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397" y="704849"/>
            <a:ext cx="5261217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473943" y="736550"/>
            <a:ext cx="519194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Arsitektur Model: EfficientNetB3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59" y="1788603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80133" y="167727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Justifikasi Pemilihan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23085" y="2082587"/>
            <a:ext cx="5459806" cy="27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Parameter Ringan: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Hanya 12.5 Juta parameter.</a:t>
            </a:r>
            <a:endParaRPr lang="en-US" sz="11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ImageNet: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Menggunakan </a:t>
            </a:r>
            <a:r>
              <a:rPr lang="en-US" sz="11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weights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dari ImageNet (1.4M gambar).</a:t>
            </a:r>
            <a:endParaRPr lang="en-US" sz="11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State-of-the-art: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Performa tinggi di ImageNet.</a:t>
            </a:r>
            <a:endParaRPr lang="en-US" sz="11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 Learning: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Cocok untuk domain klasifikasi sampah.</a:t>
            </a:r>
            <a:endParaRPr lang="en-US" sz="11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Mendukung deployment ke web/mobile via TFLite.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65A5EC-83A9-2011-8DFB-5EDB6A766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892" y="4720589"/>
            <a:ext cx="2029108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0988CE50-65B1-8EE3-586A-14191E1F3479}"/>
              </a:ext>
            </a:extLst>
          </p:cNvPr>
          <p:cNvSpPr/>
          <p:nvPr/>
        </p:nvSpPr>
        <p:spPr>
          <a:xfrm>
            <a:off x="293123" y="210349"/>
            <a:ext cx="7082650" cy="477144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" name="Text 0"/>
          <p:cNvSpPr/>
          <p:nvPr/>
        </p:nvSpPr>
        <p:spPr>
          <a:xfrm>
            <a:off x="473943" y="251072"/>
            <a:ext cx="6901830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Struktur Model &amp; Strategi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80201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Struktur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047480"/>
            <a:ext cx="3932858" cy="206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Input: 256x256x3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Model: EfficientNetB3 (pre-trained ImageNet)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GlobalAveragePooling2D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BatchNormalization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Dense(512, ReLU) + Dropout(0.4)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Dense(256, ReLU) + Dropout(0.3)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Dense(128, ReLU) + Dropout(0.2)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Output: Dense(1, Sigmoid)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962" y="1529581"/>
            <a:ext cx="27497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 Transfer Learning (2 Fase)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54340" y="2039913"/>
            <a:ext cx="26603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FASE 1: Initial Training (12 epochs)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54340" y="2397919"/>
            <a:ext cx="312047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model: FREEZE. Training: Hanya </a:t>
            </a: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layers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554340" y="3102025"/>
            <a:ext cx="245506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FASE 2: Fine-Tuning (8 epochs)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54340" y="3460031"/>
            <a:ext cx="312047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model: UNFREEZE (20% layer terakhir). Training: Seluruh model.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83910B-0224-FFC2-1129-4EED7C52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097"/>
          <a:stretch>
            <a:fillRect/>
          </a:stretch>
        </p:blipFill>
        <p:spPr>
          <a:xfrm>
            <a:off x="469181" y="2924211"/>
            <a:ext cx="4037818" cy="19682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0E5E8F-AD68-7D7B-7ADB-64D89B535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79" y="4781499"/>
            <a:ext cx="2029108" cy="362001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0386303F-0FF1-8A05-06CC-D50E94C96DF7}"/>
              </a:ext>
            </a:extLst>
          </p:cNvPr>
          <p:cNvSpPr/>
          <p:nvPr/>
        </p:nvSpPr>
        <p:spPr>
          <a:xfrm>
            <a:off x="4772504" y="2057557"/>
            <a:ext cx="616529" cy="773750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C7C6C245-A481-CFB8-A6D0-594B9C91CBEE}"/>
              </a:ext>
            </a:extLst>
          </p:cNvPr>
          <p:cNvSpPr/>
          <p:nvPr/>
        </p:nvSpPr>
        <p:spPr>
          <a:xfrm>
            <a:off x="4772504" y="3073156"/>
            <a:ext cx="616529" cy="773750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FD69DA-AEAB-AA46-5809-2072F78A6E28}"/>
              </a:ext>
            </a:extLst>
          </p:cNvPr>
          <p:cNvSpPr txBox="1"/>
          <p:nvPr/>
        </p:nvSpPr>
        <p:spPr>
          <a:xfrm>
            <a:off x="4932219" y="227737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A42E0D-01E8-FAD4-187C-D09AF26AB5D5}"/>
              </a:ext>
            </a:extLst>
          </p:cNvPr>
          <p:cNvSpPr txBox="1"/>
          <p:nvPr/>
        </p:nvSpPr>
        <p:spPr>
          <a:xfrm>
            <a:off x="4932219" y="3291033"/>
            <a:ext cx="4752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ID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392</Words>
  <Application>Microsoft Office PowerPoint</Application>
  <PresentationFormat>On-screen Show (16:9)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Barlow Bold</vt:lpstr>
      <vt:lpstr>Arial</vt:lpstr>
      <vt:lpstr>Consolas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Wildan Sani</dc:creator>
  <cp:lastModifiedBy>Wildan Sani</cp:lastModifiedBy>
  <cp:revision>2</cp:revision>
  <dcterms:created xsi:type="dcterms:W3CDTF">2026-05-12T00:07:59Z</dcterms:created>
  <dcterms:modified xsi:type="dcterms:W3CDTF">2026-05-12T00:55:36Z</dcterms:modified>
</cp:coreProperties>
</file>